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slots</c:v>
                </c:pt>
              </c:strCache>
            </c:strRef>
          </c:tx>
          <c:spPr>
            <a:ln w="28575"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6a</c:v>
                </c:pt>
                <c:pt idx="1">
                  <c:v>7a</c:v>
                </c:pt>
                <c:pt idx="2">
                  <c:v>8a</c:v>
                </c:pt>
                <c:pt idx="3">
                  <c:v>9a</c:v>
                </c:pt>
                <c:pt idx="4">
                  <c:v>10a</c:v>
                </c:pt>
                <c:pt idx="5">
                  <c:v>11a</c:v>
                </c:pt>
                <c:pt idx="6">
                  <c:v>12p</c:v>
                </c:pt>
                <c:pt idx="7">
                  <c:v>1p</c:v>
                </c:pt>
                <c:pt idx="8">
                  <c:v>2p</c:v>
                </c:pt>
                <c:pt idx="9">
                  <c:v>3p</c:v>
                </c:pt>
                <c:pt idx="10">
                  <c:v>4p</c:v>
                </c:pt>
                <c:pt idx="11">
                  <c:v>5p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28</c:v>
                </c:pt>
                <c:pt idx="2">
                  <c:v>42</c:v>
                </c:pt>
                <c:pt idx="3">
                  <c:v>36</c:v>
                </c:pt>
                <c:pt idx="4">
                  <c:v>22</c:v>
                </c:pt>
                <c:pt idx="5">
                  <c:v>14</c:v>
                </c:pt>
                <c:pt idx="6">
                  <c:v>9</c:v>
                </c:pt>
                <c:pt idx="7">
                  <c:v>7</c:v>
                </c:pt>
                <c:pt idx="8">
                  <c:v>5</c:v>
                </c:pt>
                <c:pt idx="9">
                  <c:v>4</c:v>
                </c:pt>
                <c:pt idx="10">
                  <c:v>3</c:v>
                </c:pt>
                <c:pt idx="11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FarmIQ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6a</c:v>
                </c:pt>
                <c:pt idx="1">
                  <c:v>7a</c:v>
                </c:pt>
                <c:pt idx="2">
                  <c:v>8a</c:v>
                </c:pt>
                <c:pt idx="3">
                  <c:v>9a</c:v>
                </c:pt>
                <c:pt idx="4">
                  <c:v>10a</c:v>
                </c:pt>
                <c:pt idx="5">
                  <c:v>11a</c:v>
                </c:pt>
                <c:pt idx="6">
                  <c:v>12p</c:v>
                </c:pt>
                <c:pt idx="7">
                  <c:v>1p</c:v>
                </c:pt>
                <c:pt idx="8">
                  <c:v>2p</c:v>
                </c:pt>
                <c:pt idx="9">
                  <c:v>3p</c:v>
                </c:pt>
                <c:pt idx="10">
                  <c:v>4p</c:v>
                </c:pt>
                <c:pt idx="11">
                  <c:v>5p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18</c:v>
                </c:pt>
                <c:pt idx="5">
                  <c:v>17</c:v>
                </c:pt>
                <c:pt idx="6">
                  <c:v>16</c:v>
                </c:pt>
                <c:pt idx="7">
                  <c:v>15</c:v>
                </c:pt>
                <c:pt idx="8">
                  <c:v>14</c:v>
                </c:pt>
                <c:pt idx="9">
                  <c:v>13</c:v>
                </c:pt>
                <c:pt idx="10">
                  <c:v>12</c:v>
                </c:pt>
                <c:pt idx="11">
                  <c:v>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Capacity</c:v>
                </c:pt>
              </c:strCache>
            </c:strRef>
          </c:tx>
          <c:spPr>
            <a:ln w="19050">
              <a:solidFill>
                <a:srgbClr val="000000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6a</c:v>
                </c:pt>
                <c:pt idx="1">
                  <c:v>7a</c:v>
                </c:pt>
                <c:pt idx="2">
                  <c:v>8a</c:v>
                </c:pt>
                <c:pt idx="3">
                  <c:v>9a</c:v>
                </c:pt>
                <c:pt idx="4">
                  <c:v>10a</c:v>
                </c:pt>
                <c:pt idx="5">
                  <c:v>11a</c:v>
                </c:pt>
                <c:pt idx="6">
                  <c:v>12p</c:v>
                </c:pt>
                <c:pt idx="7">
                  <c:v>1p</c:v>
                </c:pt>
                <c:pt idx="8">
                  <c:v>2p</c:v>
                </c:pt>
                <c:pt idx="9">
                  <c:v>3p</c:v>
                </c:pt>
                <c:pt idx="10">
                  <c:v>4p</c:v>
                </c:pt>
                <c:pt idx="11">
                  <c:v>5p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5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15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F497D"/>
                </a:solidFill>
                <a:latin typeface="Arial"/>
              </a:rPr>
              <a:t>Post-harvest loss by crop group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 estimate</c:v>
                </c:pt>
              </c:strCache>
            </c:strRef>
          </c:tx>
          <c:spPr>
            <a:solidFill>
              <a:srgbClr val="9CC3E6"/>
            </a:solidFill>
          </c:spPr>
          <c:cat>
            <c:strRef>
              <c:f>Sheet1!$A$2:$A$6</c:f>
              <c:strCache>
                <c:ptCount val="5"/>
                <c:pt idx="0">
                  <c:v>Cereals</c:v>
                </c:pt>
                <c:pt idx="1">
                  <c:v>Pulses</c:v>
                </c:pt>
                <c:pt idx="2">
                  <c:v>Oilseeds</c:v>
                </c:pt>
                <c:pt idx="3">
                  <c:v>Fruits</c:v>
                </c:pt>
                <c:pt idx="4">
                  <c:v>Vegetables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3.89</c:v>
                </c:pt>
                <c:pt idx="1">
                  <c:v>5.65</c:v>
                </c:pt>
                <c:pt idx="2">
                  <c:v>2.87</c:v>
                </c:pt>
                <c:pt idx="3">
                  <c:v>6.02</c:v>
                </c:pt>
                <c:pt idx="4">
                  <c:v>4.87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estimate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Sheet1!$A$2:$A$6</c:f>
              <c:strCache>
                <c:ptCount val="5"/>
                <c:pt idx="0">
                  <c:v>Cereals</c:v>
                </c:pt>
                <c:pt idx="1">
                  <c:v>Pulses</c:v>
                </c:pt>
                <c:pt idx="2">
                  <c:v>Oilseeds</c:v>
                </c:pt>
                <c:pt idx="3">
                  <c:v>Fruits</c:v>
                </c:pt>
                <c:pt idx="4">
                  <c:v>Vegetables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5.92</c:v>
                </c:pt>
                <c:pt idx="1">
                  <c:v>6.74</c:v>
                </c:pt>
                <c:pt idx="2">
                  <c:v>7.51</c:v>
                </c:pt>
                <c:pt idx="3">
                  <c:v>15.05</c:v>
                </c:pt>
                <c:pt idx="4">
                  <c:v>11.61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50">
                  <a:solidFill>
                    <a:srgbClr val="2626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/>
          </a:pPr>
        </a:p>
      </c:txPr>
    </c:legend>
    <c:dispBlanksAs val="gap"/>
  </c:chart>
  <c:txPr>
    <a:bodyPr/>
    <a:lstStyle/>
    <a:p>
      <a:pPr>
        <a:defRPr sz="95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050" b="1">
                <a:solidFill>
                  <a:srgbClr val="1F497D"/>
                </a:solidFill>
                <a:latin typeface="Arial"/>
              </a:rPr>
              <a:t>Farm holdings by size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holdings (%)</c:v>
                </c:pt>
              </c:strCache>
            </c:strRef>
          </c:tx>
          <c:dPt>
            <c:idx val="0"/>
            <c:spPr>
              <a:solidFill>
                <a:srgbClr val="0B4F8A"/>
              </a:solidFill>
            </c:spPr>
          </c:dPt>
          <c:dPt>
            <c:idx val="1"/>
            <c:spPr>
              <a:solidFill>
                <a:srgbClr val="0070C0"/>
              </a:solidFill>
            </c:spPr>
          </c:dPt>
          <c:dPt>
            <c:idx val="2"/>
            <c:spPr>
              <a:solidFill>
                <a:srgbClr val="7F7F7F"/>
              </a:solidFill>
            </c:spPr>
          </c:dPt>
          <c:cat>
            <c:strRef>
              <c:f>Sheet1!$A$2:$A$4</c:f>
              <c:strCache>
                <c:ptCount val="3"/>
                <c:pt idx="0">
                  <c:v>Marginal (&lt;1 ha)</c:v>
                </c:pt>
                <c:pt idx="1">
                  <c:v>Small (1–2 ha)</c:v>
                </c:pt>
                <c:pt idx="2">
                  <c:v>Larger (&gt;2 ha)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68.5</c:v>
                </c:pt>
                <c:pt idx="1">
                  <c:v>17.6</c:v>
                </c:pt>
                <c:pt idx="2">
                  <c:v>13.9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85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595959"/>
          </a:solidFill>
          <a:latin typeface="Arial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chart" Target="../charts/chart1.xml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7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2.xml"/><Relationship Id="rId6" Type="http://schemas.openxmlformats.org/officeDocument/2006/relationships/chart" Target="../charts/chart3.xml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pib.gov.in/PressReleaseIframePage.aspx?PRID=1885038" TargetMode="External"/><Relationship Id="rId6" Type="http://schemas.openxmlformats.org/officeDocument/2006/relationships/hyperlink" Target="https://www.researchgate.net/publication/289637983_Assessment_of_Quantitative_Harvest_and_Post-Harvest_Losses_of_Major_CropsCommodities_in_India" TargetMode="External"/><Relationship Id="rId7" Type="http://schemas.openxmlformats.org/officeDocument/2006/relationships/hyperlink" Target="https://www.fao.org/fileadmin/templates/ess/ess_test_folder/World_Census_Agriculture/WCA_2020/WCA_2020_new_doc/IND_REP_ENG_2015_2016.pdf" TargetMode="External"/><Relationship Id="rId8" Type="http://schemas.openxmlformats.org/officeDocument/2006/relationships/hyperlink" Target="https://www.pib.gov.in/PressNoteDetails.aspx?id=158169&amp;NoteId=158169&amp;ModuleId=3&amp;reg=3&amp;lang=2" TargetMode="External"/><Relationship Id="rId9" Type="http://schemas.openxmlformats.org/officeDocument/2006/relationships/hyperlink" Target="https://agmarknet.gov.in/" TargetMode="External"/><Relationship Id="rId10" Type="http://schemas.openxmlformats.org/officeDocument/2006/relationships/hyperlink" Target="https://fastapi.tiangolo.com/" TargetMode="External"/><Relationship Id="rId11" Type="http://schemas.openxmlformats.org/officeDocument/2006/relationships/hyperlink" Target="https://scikit-learn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194560"/>
            <a:ext cx="617220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26032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Farmers often face long waiting times, lack of information regarding procurement schedules, and uncertainty about procurement status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FarmIQ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FARMIQ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AI-POWERED SMART PROCUREMENT &amp; QUEUE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FarmIQ Logo" descr="FarmIQ logo - Smarter Farming. Better Tomorrow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54864"/>
            <a:ext cx="1554480" cy="1024128"/>
          </a:xfrm>
          <a:prstGeom prst="rect">
            <a:avLst/>
          </a:prstGeom>
        </p:spPr>
      </p:pic>
      <p:sp>
        <p:nvSpPr>
          <p:cNvPr id="15363" name="Diamond 15362"/>
          <p:cNvSpPr/>
          <p:nvPr/>
        </p:nvSpPr>
        <p:spPr>
          <a:xfrm>
            <a:off x="457200" y="1261872"/>
            <a:ext cx="128016" cy="128016"/>
          </a:xfrm>
          <a:prstGeom prst="diamond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640080" y="1170432"/>
            <a:ext cx="393192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Arial"/>
              </a:rPr>
              <a:t>Proposed Solution</a:t>
            </a:r>
          </a:p>
        </p:txBody>
      </p:sp>
      <p:sp>
        <p:nvSpPr>
          <p:cNvPr id="15365" name="Diamond 15364"/>
          <p:cNvSpPr/>
          <p:nvPr/>
        </p:nvSpPr>
        <p:spPr>
          <a:xfrm>
            <a:off x="4754880" y="1261872"/>
            <a:ext cx="128016" cy="128016"/>
          </a:xfrm>
          <a:prstGeom prst="diamond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4937760" y="1170432"/>
            <a:ext cx="6766559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57200" y="1572768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566928" y="1609344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Arial"/>
              </a:rPr>
              <a:t>Real-World Issue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566928" y="1892807"/>
            <a:ext cx="39319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Farmers reach centres not knowing when to come:</a:t>
            </a:r>
          </a:p>
        </p:txBody>
      </p:sp>
      <p:pic>
        <p:nvPicPr>
          <p:cNvPr id="15370" name="Picture 15369" descr="FaTimesCircle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217420"/>
            <a:ext cx="164592" cy="164592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841248" y="2176272"/>
            <a:ext cx="3657600" cy="2468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Long waiting times</a:t>
            </a:r>
          </a:p>
        </p:txBody>
      </p:sp>
      <p:pic>
        <p:nvPicPr>
          <p:cNvPr id="15372" name="Picture 15371" descr="FaTimesCircle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455163"/>
            <a:ext cx="164592" cy="164592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841248" y="2414015"/>
            <a:ext cx="3657600" cy="2468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No information on procurement schedules</a:t>
            </a:r>
          </a:p>
        </p:txBody>
      </p:sp>
      <p:pic>
        <p:nvPicPr>
          <p:cNvPr id="15374" name="Picture 15373" descr="FaTimesCircle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692908"/>
            <a:ext cx="164592" cy="164592"/>
          </a:xfrm>
          <a:prstGeom prst="rect">
            <a:avLst/>
          </a:prstGeom>
        </p:spPr>
      </p:pic>
      <p:sp>
        <p:nvSpPr>
          <p:cNvPr id="15375" name="TextBox 15374"/>
          <p:cNvSpPr txBox="1"/>
          <p:nvPr/>
        </p:nvSpPr>
        <p:spPr>
          <a:xfrm>
            <a:off x="841248" y="2651760"/>
            <a:ext cx="3657600" cy="2468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Uncertain procurement status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457200" y="3054096"/>
            <a:ext cx="4114800" cy="1051560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566928" y="3090672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Arial"/>
              </a:rPr>
              <a:t>Why It Matters?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566928" y="3383280"/>
            <a:ext cx="13716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900" b="1" i="0">
                <a:solidFill>
                  <a:srgbClr val="C00000"/>
                </a:solidFill>
                <a:latin typeface="Arial"/>
              </a:rPr>
              <a:t>86%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1965960" y="3383280"/>
            <a:ext cx="25603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Arial"/>
              </a:rPr>
              <a:t>of farm holdings are small or marginal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66928" y="3730752"/>
            <a:ext cx="13716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900" b="1" i="0">
                <a:solidFill>
                  <a:srgbClr val="C00000"/>
                </a:solidFill>
                <a:latin typeface="Arial"/>
              </a:rPr>
              <a:t>Up to 15%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1965960" y="3730752"/>
            <a:ext cx="25603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Arial"/>
              </a:rPr>
              <a:t>of fruits are lost after harvest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57200" y="4215384"/>
            <a:ext cx="4114800" cy="200253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566928" y="4251960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Our Solution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566928" y="4544568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AI tells every farmer WHEN and WHERE to sell: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566928" y="4846320"/>
            <a:ext cx="3931920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1 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Farmer registers crop, quantity &amp; location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2 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AI checks capacity, demand &amp; queue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3 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Farmer gets a time slot + digital token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4 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Live queue &amp; wait-time updates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5 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Quality check, weighing &amp; payment</a:t>
            </a:r>
          </a:p>
        </p:txBody>
      </p:sp>
      <p:graphicFrame>
        <p:nvGraphicFramePr>
          <p:cNvPr id="15386" name="Chart 15385" descr="Line chart: farmer arrivals per hour with and without FarmIQ slots versus centre capacity (illustrative)"/>
          <p:cNvGraphicFramePr>
            <a:graphicFrameLocks noGrp="1"/>
          </p:cNvGraphicFramePr>
          <p:nvPr/>
        </p:nvGraphicFramePr>
        <p:xfrm>
          <a:off x="4754880" y="1572768"/>
          <a:ext cx="3886200" cy="19202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5387" name="TextBox 15386"/>
          <p:cNvSpPr txBox="1"/>
          <p:nvPr/>
        </p:nvSpPr>
        <p:spPr>
          <a:xfrm>
            <a:off x="4754880" y="3511296"/>
            <a:ext cx="3886200" cy="329184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rial"/>
              </a:rPr>
              <a:t>Farmers arriving per hour: AI-balanced slots stay below capacity.  </a:t>
            </a:r>
            <a:r>
              <a:rPr sz="950" b="0" i="1">
                <a:solidFill>
                  <a:srgbClr val="595959"/>
                </a:solidFill>
                <a:latin typeface="Arial"/>
              </a:rPr>
              <a:t>Illustrative model, not measured data.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8778240" y="1572768"/>
            <a:ext cx="2953512" cy="224028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8869680" y="1609344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50" b="1" i="0">
                <a:solidFill>
                  <a:srgbClr val="C00000"/>
                </a:solidFill>
                <a:latin typeface="Arial"/>
              </a:rPr>
              <a:t>Today</a:t>
            </a:r>
            <a:r>
              <a:rPr sz="1150" b="0" i="0">
                <a:solidFill>
                  <a:srgbClr val="000000"/>
                </a:solidFill>
                <a:latin typeface="Arial"/>
              </a:rPr>
              <a:t>   vs   </a:t>
            </a:r>
            <a:r>
              <a:rPr sz="1150" b="1" i="0">
                <a:solidFill>
                  <a:srgbClr val="2E7D32"/>
                </a:solidFill>
                <a:latin typeface="Arial"/>
              </a:rPr>
              <a:t>With FarmIQ</a:t>
            </a:r>
          </a:p>
        </p:txBody>
      </p:sp>
      <p:pic>
        <p:nvPicPr>
          <p:cNvPr id="15390" name="Picture 15389" descr="FaTimesCircle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8" y="1965960"/>
            <a:ext cx="155448" cy="155448"/>
          </a:xfrm>
          <a:prstGeom prst="rect">
            <a:avLst/>
          </a:prstGeom>
        </p:spPr>
      </p:pic>
      <p:sp>
        <p:nvSpPr>
          <p:cNvPr id="15391" name="TextBox 15390"/>
          <p:cNvSpPr txBox="1"/>
          <p:nvPr/>
        </p:nvSpPr>
        <p:spPr>
          <a:xfrm>
            <a:off x="9098280" y="1938528"/>
            <a:ext cx="2606040" cy="210312"/>
          </a:xfrm>
          <a:prstGeom prst="rect">
            <a:avLst/>
          </a:prstGeom>
          <a:noFill/>
        </p:spPr>
        <p:txBody>
          <a:bodyPr wrap="square" lIns="27432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Arial"/>
              </a:rPr>
              <a:t>Long waiting times</a:t>
            </a:r>
          </a:p>
        </p:txBody>
      </p:sp>
      <p:pic>
        <p:nvPicPr>
          <p:cNvPr id="15392" name="Picture 15391" descr="FaCheckCircle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968" y="2167128"/>
            <a:ext cx="155448" cy="155448"/>
          </a:xfrm>
          <a:prstGeom prst="rect">
            <a:avLst/>
          </a:prstGeom>
        </p:spPr>
      </p:pic>
      <p:sp>
        <p:nvSpPr>
          <p:cNvPr id="15393" name="TextBox 15392"/>
          <p:cNvSpPr txBox="1"/>
          <p:nvPr/>
        </p:nvSpPr>
        <p:spPr>
          <a:xfrm>
            <a:off x="9098280" y="2139696"/>
            <a:ext cx="2606040" cy="210312"/>
          </a:xfrm>
          <a:prstGeom prst="rect">
            <a:avLst/>
          </a:prstGeom>
          <a:noFill/>
        </p:spPr>
        <p:txBody>
          <a:bodyPr wrap="square" lIns="27432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Token + live wait estimate</a:t>
            </a:r>
          </a:p>
        </p:txBody>
      </p:sp>
      <p:pic>
        <p:nvPicPr>
          <p:cNvPr id="15394" name="Picture 15393" descr="FaTimesCircle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8" y="2414016"/>
            <a:ext cx="155448" cy="155448"/>
          </a:xfrm>
          <a:prstGeom prst="rect">
            <a:avLst/>
          </a:prstGeom>
        </p:spPr>
      </p:pic>
      <p:sp>
        <p:nvSpPr>
          <p:cNvPr id="15395" name="TextBox 15394"/>
          <p:cNvSpPr txBox="1"/>
          <p:nvPr/>
        </p:nvSpPr>
        <p:spPr>
          <a:xfrm>
            <a:off x="9098280" y="2386584"/>
            <a:ext cx="2606040" cy="210312"/>
          </a:xfrm>
          <a:prstGeom prst="rect">
            <a:avLst/>
          </a:prstGeom>
          <a:noFill/>
        </p:spPr>
        <p:txBody>
          <a:bodyPr wrap="square" lIns="27432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Arial"/>
              </a:rPr>
              <a:t>No schedule information</a:t>
            </a:r>
          </a:p>
        </p:txBody>
      </p:sp>
      <p:pic>
        <p:nvPicPr>
          <p:cNvPr id="15396" name="Picture 15395" descr="FaCheckCircle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968" y="2615184"/>
            <a:ext cx="155448" cy="155448"/>
          </a:xfrm>
          <a:prstGeom prst="rect">
            <a:avLst/>
          </a:prstGeom>
        </p:spPr>
      </p:pic>
      <p:sp>
        <p:nvSpPr>
          <p:cNvPr id="15397" name="TextBox 15396"/>
          <p:cNvSpPr txBox="1"/>
          <p:nvPr/>
        </p:nvSpPr>
        <p:spPr>
          <a:xfrm>
            <a:off x="9098280" y="2587752"/>
            <a:ext cx="2606040" cy="210312"/>
          </a:xfrm>
          <a:prstGeom prst="rect">
            <a:avLst/>
          </a:prstGeom>
          <a:noFill/>
        </p:spPr>
        <p:txBody>
          <a:bodyPr wrap="square" lIns="27432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Schedules &amp; slot alerts by SMS</a:t>
            </a:r>
          </a:p>
        </p:txBody>
      </p:sp>
      <p:pic>
        <p:nvPicPr>
          <p:cNvPr id="15398" name="Picture 15397" descr="FaTimesCircle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8" y="2862072"/>
            <a:ext cx="155448" cy="155448"/>
          </a:xfrm>
          <a:prstGeom prst="rect">
            <a:avLst/>
          </a:prstGeom>
        </p:spPr>
      </p:pic>
      <p:sp>
        <p:nvSpPr>
          <p:cNvPr id="15399" name="TextBox 15398"/>
          <p:cNvSpPr txBox="1"/>
          <p:nvPr/>
        </p:nvSpPr>
        <p:spPr>
          <a:xfrm>
            <a:off x="9098280" y="2834640"/>
            <a:ext cx="2606040" cy="210312"/>
          </a:xfrm>
          <a:prstGeom prst="rect">
            <a:avLst/>
          </a:prstGeom>
          <a:noFill/>
        </p:spPr>
        <p:txBody>
          <a:bodyPr wrap="square" lIns="27432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Arial"/>
              </a:rPr>
              <a:t>Uncertain procurement status</a:t>
            </a:r>
          </a:p>
        </p:txBody>
      </p:sp>
      <p:pic>
        <p:nvPicPr>
          <p:cNvPr id="15400" name="Picture 15399" descr="FaCheckCircle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968" y="3063240"/>
            <a:ext cx="155448" cy="155448"/>
          </a:xfrm>
          <a:prstGeom prst="rect">
            <a:avLst/>
          </a:prstGeom>
        </p:spPr>
      </p:pic>
      <p:sp>
        <p:nvSpPr>
          <p:cNvPr id="15401" name="TextBox 15400"/>
          <p:cNvSpPr txBox="1"/>
          <p:nvPr/>
        </p:nvSpPr>
        <p:spPr>
          <a:xfrm>
            <a:off x="9098280" y="3035808"/>
            <a:ext cx="2606040" cy="210312"/>
          </a:xfrm>
          <a:prstGeom prst="rect">
            <a:avLst/>
          </a:prstGeom>
          <a:noFill/>
        </p:spPr>
        <p:txBody>
          <a:bodyPr wrap="square" lIns="27432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Live queue &amp; stage tracking</a:t>
            </a:r>
          </a:p>
        </p:txBody>
      </p:sp>
      <p:pic>
        <p:nvPicPr>
          <p:cNvPr id="15402" name="Picture 15401" descr="FaTimesCircle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8" y="3310127"/>
            <a:ext cx="155448" cy="155448"/>
          </a:xfrm>
          <a:prstGeom prst="rect">
            <a:avLst/>
          </a:prstGeom>
        </p:spPr>
      </p:pic>
      <p:sp>
        <p:nvSpPr>
          <p:cNvPr id="15403" name="TextBox 15402"/>
          <p:cNvSpPr txBox="1"/>
          <p:nvPr/>
        </p:nvSpPr>
        <p:spPr>
          <a:xfrm>
            <a:off x="9098280" y="3282696"/>
            <a:ext cx="2606040" cy="210312"/>
          </a:xfrm>
          <a:prstGeom prst="rect">
            <a:avLst/>
          </a:prstGeom>
          <a:noFill/>
        </p:spPr>
        <p:txBody>
          <a:bodyPr wrap="square" lIns="27432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Arial"/>
              </a:rPr>
              <a:t>Unplanned crowding</a:t>
            </a:r>
          </a:p>
        </p:txBody>
      </p:sp>
      <p:pic>
        <p:nvPicPr>
          <p:cNvPr id="15404" name="Picture 15403" descr="FaCheckCircle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968" y="3511296"/>
            <a:ext cx="155448" cy="155448"/>
          </a:xfrm>
          <a:prstGeom prst="rect">
            <a:avLst/>
          </a:prstGeom>
        </p:spPr>
      </p:pic>
      <p:sp>
        <p:nvSpPr>
          <p:cNvPr id="15405" name="TextBox 15404"/>
          <p:cNvSpPr txBox="1"/>
          <p:nvPr/>
        </p:nvSpPr>
        <p:spPr>
          <a:xfrm>
            <a:off x="9098280" y="3483864"/>
            <a:ext cx="2606040" cy="210312"/>
          </a:xfrm>
          <a:prstGeom prst="rect">
            <a:avLst/>
          </a:prstGeom>
          <a:noFill/>
        </p:spPr>
        <p:txBody>
          <a:bodyPr wrap="square" lIns="27432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AI-balanced slot allocation</a:t>
            </a:r>
          </a:p>
        </p:txBody>
      </p:sp>
      <p:sp>
        <p:nvSpPr>
          <p:cNvPr id="15406" name="Diamond 15405"/>
          <p:cNvSpPr/>
          <p:nvPr/>
        </p:nvSpPr>
        <p:spPr>
          <a:xfrm>
            <a:off x="4754880" y="3977639"/>
            <a:ext cx="128016" cy="128016"/>
          </a:xfrm>
          <a:prstGeom prst="diamond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07" name="TextBox 15406"/>
          <p:cNvSpPr txBox="1"/>
          <p:nvPr/>
        </p:nvSpPr>
        <p:spPr>
          <a:xfrm>
            <a:off x="4937760" y="3886200"/>
            <a:ext cx="6766559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408" name="Rounded Rectangle 15407"/>
          <p:cNvSpPr/>
          <p:nvPr/>
        </p:nvSpPr>
        <p:spPr>
          <a:xfrm>
            <a:off x="4754880" y="4251960"/>
            <a:ext cx="3447288" cy="566928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09" name="Oval 15408"/>
          <p:cNvSpPr/>
          <p:nvPr/>
        </p:nvSpPr>
        <p:spPr>
          <a:xfrm>
            <a:off x="4846320" y="4361688"/>
            <a:ext cx="347472" cy="34747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10" name="Picture 15409" descr="FaBrai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713" y="4445081"/>
            <a:ext cx="180685" cy="180685"/>
          </a:xfrm>
          <a:prstGeom prst="rect">
            <a:avLst/>
          </a:prstGeom>
        </p:spPr>
      </p:pic>
      <p:sp>
        <p:nvSpPr>
          <p:cNvPr id="15411" name="TextBox 15410"/>
          <p:cNvSpPr txBox="1"/>
          <p:nvPr/>
        </p:nvSpPr>
        <p:spPr>
          <a:xfrm>
            <a:off x="5285232" y="4279392"/>
            <a:ext cx="2880360" cy="265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AI procurement scheduling</a:t>
            </a:r>
          </a:p>
        </p:txBody>
      </p:sp>
      <p:sp>
        <p:nvSpPr>
          <p:cNvPr id="15412" name="TextBox 15411"/>
          <p:cNvSpPr txBox="1"/>
          <p:nvPr/>
        </p:nvSpPr>
        <p:spPr>
          <a:xfrm>
            <a:off x="5285232" y="4526280"/>
            <a:ext cx="288036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Predicts centre load, suggests best slot</a:t>
            </a:r>
          </a:p>
        </p:txBody>
      </p:sp>
      <p:sp>
        <p:nvSpPr>
          <p:cNvPr id="15413" name="Rounded Rectangle 15412"/>
          <p:cNvSpPr/>
          <p:nvPr/>
        </p:nvSpPr>
        <p:spPr>
          <a:xfrm>
            <a:off x="8284464" y="4251960"/>
            <a:ext cx="3447288" cy="566928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14" name="Oval 15413"/>
          <p:cNvSpPr/>
          <p:nvPr/>
        </p:nvSpPr>
        <p:spPr>
          <a:xfrm>
            <a:off x="8375904" y="4361688"/>
            <a:ext cx="347472" cy="34747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15" name="Picture 15414" descr="FaTicketAl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9297" y="4445081"/>
            <a:ext cx="180685" cy="180685"/>
          </a:xfrm>
          <a:prstGeom prst="rect">
            <a:avLst/>
          </a:prstGeom>
        </p:spPr>
      </p:pic>
      <p:sp>
        <p:nvSpPr>
          <p:cNvPr id="15416" name="TextBox 15415"/>
          <p:cNvSpPr txBox="1"/>
          <p:nvPr/>
        </p:nvSpPr>
        <p:spPr>
          <a:xfrm>
            <a:off x="8814816" y="4279392"/>
            <a:ext cx="2880360" cy="265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Smart token &amp; queue prediction</a:t>
            </a:r>
          </a:p>
        </p:txBody>
      </p:sp>
      <p:sp>
        <p:nvSpPr>
          <p:cNvPr id="15417" name="TextBox 15416"/>
          <p:cNvSpPr txBox="1"/>
          <p:nvPr/>
        </p:nvSpPr>
        <p:spPr>
          <a:xfrm>
            <a:off x="8814816" y="4526280"/>
            <a:ext cx="288036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Know your wait before you travel</a:t>
            </a:r>
          </a:p>
        </p:txBody>
      </p:sp>
      <p:sp>
        <p:nvSpPr>
          <p:cNvPr id="15418" name="Rounded Rectangle 15417"/>
          <p:cNvSpPr/>
          <p:nvPr/>
        </p:nvSpPr>
        <p:spPr>
          <a:xfrm>
            <a:off x="4754880" y="4892040"/>
            <a:ext cx="3447288" cy="566928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19" name="Oval 15418"/>
          <p:cNvSpPr/>
          <p:nvPr/>
        </p:nvSpPr>
        <p:spPr>
          <a:xfrm>
            <a:off x="4846320" y="5001768"/>
            <a:ext cx="347472" cy="34747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20" name="Picture 15419" descr="FaMicrophon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713" y="5085161"/>
            <a:ext cx="180685" cy="180685"/>
          </a:xfrm>
          <a:prstGeom prst="rect">
            <a:avLst/>
          </a:prstGeom>
        </p:spPr>
      </p:pic>
      <p:sp>
        <p:nvSpPr>
          <p:cNvPr id="15421" name="TextBox 15420"/>
          <p:cNvSpPr txBox="1"/>
          <p:nvPr/>
        </p:nvSpPr>
        <p:spPr>
          <a:xfrm>
            <a:off x="5285232" y="4919472"/>
            <a:ext cx="2880360" cy="265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Voice &amp; regional-language access</a:t>
            </a:r>
          </a:p>
        </p:txBody>
      </p:sp>
      <p:sp>
        <p:nvSpPr>
          <p:cNvPr id="15422" name="TextBox 15421"/>
          <p:cNvSpPr txBox="1"/>
          <p:nvPr/>
        </p:nvSpPr>
        <p:spPr>
          <a:xfrm>
            <a:off x="5285232" y="5166360"/>
            <a:ext cx="288036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Voice, SMS or WhatsApp updates</a:t>
            </a:r>
          </a:p>
        </p:txBody>
      </p:sp>
      <p:sp>
        <p:nvSpPr>
          <p:cNvPr id="15423" name="Rounded Rectangle 15422"/>
          <p:cNvSpPr/>
          <p:nvPr/>
        </p:nvSpPr>
        <p:spPr>
          <a:xfrm>
            <a:off x="8284464" y="4892040"/>
            <a:ext cx="3447288" cy="566928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24" name="Oval 15423"/>
          <p:cNvSpPr/>
          <p:nvPr/>
        </p:nvSpPr>
        <p:spPr>
          <a:xfrm>
            <a:off x="8375904" y="5001768"/>
            <a:ext cx="347472" cy="34747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25" name="Picture 15424" descr="FaTruck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9297" y="5085161"/>
            <a:ext cx="180685" cy="180685"/>
          </a:xfrm>
          <a:prstGeom prst="rect">
            <a:avLst/>
          </a:prstGeom>
        </p:spPr>
      </p:pic>
      <p:sp>
        <p:nvSpPr>
          <p:cNvPr id="15426" name="TextBox 15425"/>
          <p:cNvSpPr txBox="1"/>
          <p:nvPr/>
        </p:nvSpPr>
        <p:spPr>
          <a:xfrm>
            <a:off x="8814816" y="4919472"/>
            <a:ext cx="2880360" cy="265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Smart logistics</a:t>
            </a:r>
          </a:p>
        </p:txBody>
      </p:sp>
      <p:sp>
        <p:nvSpPr>
          <p:cNvPr id="15427" name="TextBox 15426"/>
          <p:cNvSpPr txBox="1"/>
          <p:nvPr/>
        </p:nvSpPr>
        <p:spPr>
          <a:xfrm>
            <a:off x="8814816" y="5166360"/>
            <a:ext cx="288036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Nearby farmers share transport</a:t>
            </a:r>
          </a:p>
        </p:txBody>
      </p:sp>
      <p:sp>
        <p:nvSpPr>
          <p:cNvPr id="15428" name="Rounded Rectangle 15427"/>
          <p:cNvSpPr/>
          <p:nvPr/>
        </p:nvSpPr>
        <p:spPr>
          <a:xfrm>
            <a:off x="4754880" y="5577840"/>
            <a:ext cx="6976872" cy="64008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29" name="TextBox 15428"/>
          <p:cNvSpPr txBox="1"/>
          <p:nvPr/>
        </p:nvSpPr>
        <p:spPr>
          <a:xfrm>
            <a:off x="4846320" y="5577840"/>
            <a:ext cx="128016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WHO IT SERVES</a:t>
            </a:r>
          </a:p>
        </p:txBody>
      </p:sp>
      <p:sp>
        <p:nvSpPr>
          <p:cNvPr id="15430" name="Oval 15429"/>
          <p:cNvSpPr/>
          <p:nvPr/>
        </p:nvSpPr>
        <p:spPr>
          <a:xfrm>
            <a:off x="6172200" y="5724144"/>
            <a:ext cx="347472" cy="34747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31" name="Picture 15430" descr="FaTractor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5593" y="5807537"/>
            <a:ext cx="180685" cy="180685"/>
          </a:xfrm>
          <a:prstGeom prst="rect">
            <a:avLst/>
          </a:prstGeom>
        </p:spPr>
      </p:pic>
      <p:sp>
        <p:nvSpPr>
          <p:cNvPr id="15432" name="TextBox 15431"/>
          <p:cNvSpPr txBox="1"/>
          <p:nvPr/>
        </p:nvSpPr>
        <p:spPr>
          <a:xfrm>
            <a:off x="6583680" y="5724144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Farmers</a:t>
            </a:r>
          </a:p>
        </p:txBody>
      </p:sp>
      <p:sp>
        <p:nvSpPr>
          <p:cNvPr id="15433" name="Oval 15432"/>
          <p:cNvSpPr/>
          <p:nvPr/>
        </p:nvSpPr>
        <p:spPr>
          <a:xfrm>
            <a:off x="7589520" y="5724144"/>
            <a:ext cx="347472" cy="34747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34" name="Picture 15433" descr="FaWarehouse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72913" y="5807537"/>
            <a:ext cx="180685" cy="180685"/>
          </a:xfrm>
          <a:prstGeom prst="rect">
            <a:avLst/>
          </a:prstGeom>
        </p:spPr>
      </p:pic>
      <p:sp>
        <p:nvSpPr>
          <p:cNvPr id="15435" name="TextBox 15434"/>
          <p:cNvSpPr txBox="1"/>
          <p:nvPr/>
        </p:nvSpPr>
        <p:spPr>
          <a:xfrm>
            <a:off x="8001000" y="5724144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Procurement centres</a:t>
            </a:r>
          </a:p>
        </p:txBody>
      </p:sp>
      <p:sp>
        <p:nvSpPr>
          <p:cNvPr id="15436" name="Oval 15435"/>
          <p:cNvSpPr/>
          <p:nvPr/>
        </p:nvSpPr>
        <p:spPr>
          <a:xfrm>
            <a:off x="9921240" y="5724144"/>
            <a:ext cx="347472" cy="34747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37" name="Picture 15436" descr="FaHandshake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04633" y="5807537"/>
            <a:ext cx="180685" cy="180685"/>
          </a:xfrm>
          <a:prstGeom prst="rect">
            <a:avLst/>
          </a:prstGeom>
        </p:spPr>
      </p:pic>
      <p:sp>
        <p:nvSpPr>
          <p:cNvPr id="15438" name="TextBox 15437"/>
          <p:cNvSpPr txBox="1"/>
          <p:nvPr/>
        </p:nvSpPr>
        <p:spPr>
          <a:xfrm>
            <a:off x="10332719" y="5724144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FPOs &amp; buyers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FarmIQ Logo" descr="FarmIQ logo - Smarter Farming. Better Tomorrow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54864"/>
            <a:ext cx="1554480" cy="1024128"/>
          </a:xfrm>
          <a:prstGeom prst="rect">
            <a:avLst/>
          </a:prstGeom>
        </p:spPr>
      </p:pic>
      <p:sp>
        <p:nvSpPr>
          <p:cNvPr id="17411" name="Diamond 17410"/>
          <p:cNvSpPr/>
          <p:nvPr/>
        </p:nvSpPr>
        <p:spPr>
          <a:xfrm>
            <a:off x="457200" y="1261872"/>
            <a:ext cx="128016" cy="128016"/>
          </a:xfrm>
          <a:prstGeom prst="diamond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170432"/>
            <a:ext cx="685800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Arial"/>
              </a:rPr>
              <a:t>Methodology &amp; Process Implementation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1572768"/>
            <a:ext cx="3291840" cy="777240"/>
          </a:xfrm>
          <a:prstGeom prst="roundRect">
            <a:avLst>
              <a:gd name="adj" fmla="val 14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4" name="Oval 17413"/>
          <p:cNvSpPr/>
          <p:nvPr/>
        </p:nvSpPr>
        <p:spPr>
          <a:xfrm>
            <a:off x="585216" y="1769364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FaTracto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87" y="1861535"/>
            <a:ext cx="199704" cy="199704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1078992" y="1677924"/>
            <a:ext cx="2578608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Farmer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078992" y="1952243"/>
            <a:ext cx="2578608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Registers crop, quantity &amp; location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206240" y="1572768"/>
            <a:ext cx="3291840" cy="777240"/>
          </a:xfrm>
          <a:prstGeom prst="roundRect">
            <a:avLst>
              <a:gd name="adj" fmla="val 14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9" name="Oval 17418"/>
          <p:cNvSpPr/>
          <p:nvPr/>
        </p:nvSpPr>
        <p:spPr>
          <a:xfrm>
            <a:off x="4334255" y="1769364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0" name="Picture 17419" descr="FaWarehou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6427" y="1861535"/>
            <a:ext cx="199704" cy="199704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4828031" y="1677924"/>
            <a:ext cx="2578608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Procurement Centre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828031" y="1952243"/>
            <a:ext cx="2578608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Shares capacity, schedule &amp; live queue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1188720" y="2624328"/>
            <a:ext cx="5577840" cy="594360"/>
          </a:xfrm>
          <a:prstGeom prst="roundRect">
            <a:avLst>
              <a:gd name="adj" fmla="val 14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1316736" y="2729484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FaMobileA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8907" y="2821655"/>
            <a:ext cx="199704" cy="199704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1810512" y="2638044"/>
            <a:ext cx="4864607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FarmIQ App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810512" y="2912364"/>
            <a:ext cx="4864607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Web / Android app with SMS, WhatsApp &amp; voice access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1188720" y="3493008"/>
            <a:ext cx="5577840" cy="822960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9" name="Oval 17428"/>
          <p:cNvSpPr/>
          <p:nvPr/>
        </p:nvSpPr>
        <p:spPr>
          <a:xfrm>
            <a:off x="1316736" y="3712463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0" name="Picture 17429" descr="FaBrain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8907" y="3804635"/>
            <a:ext cx="199704" cy="199704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1810512" y="3621024"/>
            <a:ext cx="4864607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AI Engine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810512" y="3895344"/>
            <a:ext cx="4864607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Demand · Capacity · Slot allocation · Queue prediction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57200" y="4590288"/>
            <a:ext cx="3291840" cy="731520"/>
          </a:xfrm>
          <a:prstGeom prst="roundRect">
            <a:avLst>
              <a:gd name="adj" fmla="val 14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4" name="Oval 17433"/>
          <p:cNvSpPr/>
          <p:nvPr/>
        </p:nvSpPr>
        <p:spPr>
          <a:xfrm>
            <a:off x="585216" y="4764024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5" name="Picture 17434" descr="FaTicketAl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387" y="4856195"/>
            <a:ext cx="199704" cy="199704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1078992" y="4672583"/>
            <a:ext cx="2578608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Slot &amp; Digital Token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078992" y="4946903"/>
            <a:ext cx="2578608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Best centre and time slot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206240" y="4590288"/>
            <a:ext cx="3291840" cy="731520"/>
          </a:xfrm>
          <a:prstGeom prst="roundRect">
            <a:avLst>
              <a:gd name="adj" fmla="val 14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9" name="Oval 17438"/>
          <p:cNvSpPr/>
          <p:nvPr/>
        </p:nvSpPr>
        <p:spPr>
          <a:xfrm>
            <a:off x="4334255" y="4764024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0" name="Picture 17439" descr="FaBell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6427" y="4856195"/>
            <a:ext cx="199704" cy="199704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4828031" y="4672583"/>
            <a:ext cx="2578608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Live Alerts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828031" y="4946903"/>
            <a:ext cx="2578608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Queue position, wait time, reminders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1188720" y="5596128"/>
            <a:ext cx="5577840" cy="594360"/>
          </a:xfrm>
          <a:prstGeom prst="roundRect">
            <a:avLst>
              <a:gd name="adj" fmla="val 14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4" name="Oval 17443"/>
          <p:cNvSpPr/>
          <p:nvPr/>
        </p:nvSpPr>
        <p:spPr>
          <a:xfrm>
            <a:off x="1316736" y="5701284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5" name="Picture 17444" descr="FaRupeeSign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8907" y="5793455"/>
            <a:ext cx="199704" cy="199704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1810512" y="5609844"/>
            <a:ext cx="4864607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Procurement &amp; Payment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1810512" y="5884164"/>
            <a:ext cx="4864607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Quality check, weighing, digital record, payment</a:t>
            </a:r>
          </a:p>
        </p:txBody>
      </p:sp>
      <p:cxnSp>
        <p:nvCxnSpPr>
          <p:cNvPr id="17448" name="Connector 17447"/>
          <p:cNvCxnSpPr/>
          <p:nvPr/>
        </p:nvCxnSpPr>
        <p:spPr>
          <a:xfrm>
            <a:off x="2103120" y="2377439"/>
            <a:ext cx="0" cy="219457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</p:cxnSp>
      <p:cxnSp>
        <p:nvCxnSpPr>
          <p:cNvPr id="17449" name="Connector 17448"/>
          <p:cNvCxnSpPr/>
          <p:nvPr/>
        </p:nvCxnSpPr>
        <p:spPr>
          <a:xfrm>
            <a:off x="5852159" y="2377439"/>
            <a:ext cx="0" cy="219457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</p:cxnSp>
      <p:cxnSp>
        <p:nvCxnSpPr>
          <p:cNvPr id="17450" name="Connector 17449"/>
          <p:cNvCxnSpPr/>
          <p:nvPr/>
        </p:nvCxnSpPr>
        <p:spPr>
          <a:xfrm>
            <a:off x="3977639" y="3246120"/>
            <a:ext cx="0" cy="219456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</p:cxnSp>
      <p:cxnSp>
        <p:nvCxnSpPr>
          <p:cNvPr id="17451" name="Connector 17450"/>
          <p:cNvCxnSpPr/>
          <p:nvPr/>
        </p:nvCxnSpPr>
        <p:spPr>
          <a:xfrm>
            <a:off x="2103120" y="4343400"/>
            <a:ext cx="0" cy="219455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</p:cxnSp>
      <p:cxnSp>
        <p:nvCxnSpPr>
          <p:cNvPr id="17452" name="Connector 17451"/>
          <p:cNvCxnSpPr/>
          <p:nvPr/>
        </p:nvCxnSpPr>
        <p:spPr>
          <a:xfrm>
            <a:off x="5852159" y="4343400"/>
            <a:ext cx="0" cy="219455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</p:cxnSp>
      <p:cxnSp>
        <p:nvCxnSpPr>
          <p:cNvPr id="17453" name="Connector 17452"/>
          <p:cNvCxnSpPr/>
          <p:nvPr/>
        </p:nvCxnSpPr>
        <p:spPr>
          <a:xfrm>
            <a:off x="2103120" y="5349240"/>
            <a:ext cx="0" cy="219456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</p:cxnSp>
      <p:cxnSp>
        <p:nvCxnSpPr>
          <p:cNvPr id="17454" name="Connector 17453"/>
          <p:cNvCxnSpPr/>
          <p:nvPr/>
        </p:nvCxnSpPr>
        <p:spPr>
          <a:xfrm>
            <a:off x="5852159" y="5349240"/>
            <a:ext cx="0" cy="219456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</p:cxnSp>
      <p:sp>
        <p:nvSpPr>
          <p:cNvPr id="17455" name="Rounded Rectangle 17454"/>
          <p:cNvSpPr/>
          <p:nvPr/>
        </p:nvSpPr>
        <p:spPr>
          <a:xfrm>
            <a:off x="7818120" y="1152144"/>
            <a:ext cx="3913632" cy="384048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6" name="Picture 17455" descr="FaLeaf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5279" y="1234440"/>
            <a:ext cx="219456" cy="219456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8275320" y="1152144"/>
            <a:ext cx="33832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Technologies Used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7818120" y="1645920"/>
            <a:ext cx="3913632" cy="822960"/>
          </a:xfrm>
          <a:prstGeom prst="roundRect">
            <a:avLst>
              <a:gd name="adj" fmla="val 10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9" name="Rounded Rectangle 17458"/>
          <p:cNvSpPr/>
          <p:nvPr/>
        </p:nvSpPr>
        <p:spPr>
          <a:xfrm>
            <a:off x="7927848" y="1810512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FE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8549640" y="1691640"/>
            <a:ext cx="3127248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Frontend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8549640" y="1965960"/>
            <a:ext cx="3127248" cy="4754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React web app and Android app for farmers and centre staff.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7818120" y="2578608"/>
            <a:ext cx="3913632" cy="822960"/>
          </a:xfrm>
          <a:prstGeom prst="roundRect">
            <a:avLst>
              <a:gd name="adj" fmla="val 10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3" name="Rounded Rectangle 17462"/>
          <p:cNvSpPr/>
          <p:nvPr/>
        </p:nvSpPr>
        <p:spPr>
          <a:xfrm>
            <a:off x="7927848" y="2743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8549640" y="2624328"/>
            <a:ext cx="3127248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Backend API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8549640" y="2898648"/>
            <a:ext cx="3127248" cy="4754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Python with FastAPI serves scheduling, token and queue services.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7818120" y="3511296"/>
            <a:ext cx="3913632" cy="822960"/>
          </a:xfrm>
          <a:prstGeom prst="roundRect">
            <a:avLst>
              <a:gd name="adj" fmla="val 10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7" name="Rounded Rectangle 17466"/>
          <p:cNvSpPr/>
          <p:nvPr/>
        </p:nvSpPr>
        <p:spPr>
          <a:xfrm>
            <a:off x="7927848" y="3675887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ML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8549640" y="3557015"/>
            <a:ext cx="3127248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AI / ML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8549640" y="3831335"/>
            <a:ext cx="3127248" cy="4754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Pandas and Scikit-learn power demand, capacity and queue prediction.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7818120" y="4443984"/>
            <a:ext cx="3913632" cy="822960"/>
          </a:xfrm>
          <a:prstGeom prst="roundRect">
            <a:avLst>
              <a:gd name="adj" fmla="val 10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1" name="Rounded Rectangle 17470"/>
          <p:cNvSpPr/>
          <p:nvPr/>
        </p:nvSpPr>
        <p:spPr>
          <a:xfrm>
            <a:off x="7927848" y="460857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DB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8549640" y="4489704"/>
            <a:ext cx="3127248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Databases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8549640" y="4764024"/>
            <a:ext cx="3127248" cy="4754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PostgreSQL and MongoDB store farmer, slot and queue data.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7818120" y="5376672"/>
            <a:ext cx="3913632" cy="822960"/>
          </a:xfrm>
          <a:prstGeom prst="roundRect">
            <a:avLst>
              <a:gd name="adj" fmla="val 10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5" name="Rounded Rectangle 17474"/>
          <p:cNvSpPr/>
          <p:nvPr/>
        </p:nvSpPr>
        <p:spPr>
          <a:xfrm>
            <a:off x="7927848" y="554126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CL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8549640" y="5422392"/>
            <a:ext cx="3127248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Cloud &amp; Alerts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8549640" y="5696712"/>
            <a:ext cx="3127248" cy="4754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Cloud hosting with SMS, WhatsApp and voice alerts; Maps &amp; Route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FarmIQ Logo" descr="FarmIQ logo - Smarter Farming. Better Tomorrow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54864"/>
            <a:ext cx="1554480" cy="1024128"/>
          </a:xfrm>
          <a:prstGeom prst="rect">
            <a:avLst/>
          </a:prstGeom>
        </p:spPr>
      </p:pic>
      <p:sp>
        <p:nvSpPr>
          <p:cNvPr id="17411" name="Diamond 17410"/>
          <p:cNvSpPr/>
          <p:nvPr/>
        </p:nvSpPr>
        <p:spPr>
          <a:xfrm>
            <a:off x="457200" y="1261872"/>
            <a:ext cx="128016" cy="128016"/>
          </a:xfrm>
          <a:prstGeom prst="diamond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170432"/>
            <a:ext cx="749808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Arial"/>
              </a:rPr>
              <a:t>Analysis of feasibility – a realistic, phased roadmap</a:t>
            </a:r>
          </a:p>
        </p:txBody>
      </p:sp>
      <p:sp>
        <p:nvSpPr>
          <p:cNvPr id="17413" name="Pentagon 17412"/>
          <p:cNvSpPr/>
          <p:nvPr/>
        </p:nvSpPr>
        <p:spPr>
          <a:xfrm>
            <a:off x="457200" y="1554480"/>
            <a:ext cx="2487168" cy="384048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txBody>
          <a:bodyPr rtlCol="0" anchor="ctr" wrap="square" lIns="109728" tIns="0" rIns="182880" bIns="0">
            <a:no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PHASE 1 · MVP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57200" y="1984248"/>
            <a:ext cx="2487168" cy="1078992"/>
          </a:xfrm>
          <a:prstGeom prst="roundRect">
            <a:avLst>
              <a:gd name="adj" fmla="val 6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30352" y="2029968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Farmer registration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Procurement schedule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Digital token &amp; queue status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Alerts &amp; notifications</a:t>
            </a:r>
          </a:p>
        </p:txBody>
      </p:sp>
      <p:sp>
        <p:nvSpPr>
          <p:cNvPr id="17416" name="Pentagon 17415"/>
          <p:cNvSpPr/>
          <p:nvPr/>
        </p:nvSpPr>
        <p:spPr>
          <a:xfrm>
            <a:off x="3054096" y="1554480"/>
            <a:ext cx="2487168" cy="384048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txBody>
          <a:bodyPr rtlCol="0" anchor="ctr" wrap="square" lIns="109728" tIns="0" rIns="182880" bIns="0">
            <a:no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PHASE 2 · AI LAYER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054096" y="1984248"/>
            <a:ext cx="2487168" cy="1078992"/>
          </a:xfrm>
          <a:prstGeom prst="roundRect">
            <a:avLst>
              <a:gd name="adj" fmla="val 6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127248" y="2029968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AI demand prediction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Waiting-time prediction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Smart slot recommendation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Quality verification</a:t>
            </a:r>
          </a:p>
        </p:txBody>
      </p:sp>
      <p:sp>
        <p:nvSpPr>
          <p:cNvPr id="17419" name="Pentagon 17418"/>
          <p:cNvSpPr/>
          <p:nvPr/>
        </p:nvSpPr>
        <p:spPr>
          <a:xfrm>
            <a:off x="5650992" y="1554480"/>
            <a:ext cx="2487168" cy="384048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txBody>
          <a:bodyPr rtlCol="0" anchor="ctr" wrap="square" lIns="109728" tIns="0" rIns="182880" bIns="0">
            <a:no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PHASE 3 · SCALE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650992" y="1984248"/>
            <a:ext cx="2487168" cy="1078992"/>
          </a:xfrm>
          <a:prstGeom prst="roundRect">
            <a:avLst>
              <a:gd name="adj" fmla="val 6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724144" y="2029968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Transport pooling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Cold-storage &amp; buyer matching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Voice regional assistant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Govt. scheme info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321040" y="1554480"/>
            <a:ext cx="3410712" cy="1508760"/>
          </a:xfrm>
          <a:prstGeom prst="roundRect">
            <a:avLst>
              <a:gd name="adj" fmla="val 6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8412480" y="1591056"/>
            <a:ext cx="324612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Digital base to build on · e-NAM, Mar 2026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366760" y="19019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100" b="1" i="0">
                <a:solidFill>
                  <a:srgbClr val="1F497D"/>
                </a:solidFill>
                <a:latin typeface="Arial"/>
              </a:rPr>
              <a:t>1,656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366760" y="2377440"/>
            <a:ext cx="1097280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mandis integrated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464040" y="19019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100" b="1" i="0">
                <a:solidFill>
                  <a:srgbClr val="1F497D"/>
                </a:solidFill>
                <a:latin typeface="Arial"/>
              </a:rPr>
              <a:t>1.80 Cr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464040" y="2377440"/>
            <a:ext cx="1097280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farmers registered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0561320" y="19019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100" b="1" i="0">
                <a:solidFill>
                  <a:srgbClr val="1F497D"/>
                </a:solidFill>
                <a:latin typeface="Arial"/>
              </a:rPr>
              <a:t>4,724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0561320" y="2377440"/>
            <a:ext cx="1097280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FPOs onboarded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412480" y="2788920"/>
            <a:ext cx="324612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PIB Press Note, Apr 2026</a:t>
            </a:r>
          </a:p>
        </p:txBody>
      </p:sp>
      <p:sp>
        <p:nvSpPr>
          <p:cNvPr id="17431" name="Diamond 17430"/>
          <p:cNvSpPr/>
          <p:nvPr/>
        </p:nvSpPr>
        <p:spPr>
          <a:xfrm>
            <a:off x="457200" y="3291840"/>
            <a:ext cx="128016" cy="128016"/>
          </a:xfrm>
          <a:prstGeom prst="diamond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640080" y="3200400"/>
            <a:ext cx="713232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Arial"/>
              </a:rPr>
              <a:t>Challenges &amp; risks  →  strategies to overcome</a:t>
            </a:r>
          </a:p>
        </p:txBody>
      </p:sp>
      <p:sp>
        <p:nvSpPr>
          <p:cNvPr id="17433" name="Diamond 17432"/>
          <p:cNvSpPr/>
          <p:nvPr/>
        </p:nvSpPr>
        <p:spPr>
          <a:xfrm>
            <a:off x="8001000" y="3291840"/>
            <a:ext cx="128016" cy="128016"/>
          </a:xfrm>
          <a:prstGeom prst="diamond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8183879" y="3200400"/>
            <a:ext cx="3566159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Arial"/>
              </a:rPr>
              <a:t>Viability: ecosystem &amp; revenue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57200" y="3566160"/>
            <a:ext cx="2926080" cy="201168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/>
            <a:r>
              <a:rPr sz="900" b="1" i="0">
                <a:solidFill>
                  <a:srgbClr val="595959"/>
                </a:solidFill>
                <a:latin typeface="Arial"/>
              </a:rPr>
              <a:t>CHALLENGE / RISK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3730752" y="3566160"/>
            <a:ext cx="3931920" cy="201168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/>
            <a:r>
              <a:rPr sz="900" b="1" i="0">
                <a:solidFill>
                  <a:srgbClr val="595959"/>
                </a:solidFill>
                <a:latin typeface="Arial"/>
              </a:rPr>
              <a:t>STRATEGY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57200" y="3794760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8" name="Picture 17437" descr="FaExclamationTriangl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50208"/>
            <a:ext cx="237744" cy="237744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841248" y="3794760"/>
            <a:ext cx="25146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Low digital literacy &amp; patchy connectivity</a:t>
            </a:r>
          </a:p>
        </p:txBody>
      </p:sp>
      <p:sp>
        <p:nvSpPr>
          <p:cNvPr id="17440" name="Right Arrow 17439"/>
          <p:cNvSpPr/>
          <p:nvPr/>
        </p:nvSpPr>
        <p:spPr>
          <a:xfrm>
            <a:off x="3429000" y="3950208"/>
            <a:ext cx="246888" cy="23774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1" name="Rounded Rectangle 17440"/>
          <p:cNvSpPr/>
          <p:nvPr/>
        </p:nvSpPr>
        <p:spPr>
          <a:xfrm>
            <a:off x="3730752" y="3794760"/>
            <a:ext cx="3931920" cy="54864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2" name="Picture 17441" descr="FaCheckCircl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1" y="3950208"/>
            <a:ext cx="237744" cy="237744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4114800" y="3794760"/>
            <a:ext cx="35204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Voice, SMS &amp; WhatsApp in regional languages; works on basic phones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57200" y="4398264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5" name="Picture 17444" descr="FaExclamationTriangl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553712"/>
            <a:ext cx="237744" cy="237744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841248" y="4398264"/>
            <a:ext cx="25146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Limited historical data for ML</a:t>
            </a:r>
          </a:p>
        </p:txBody>
      </p:sp>
      <p:sp>
        <p:nvSpPr>
          <p:cNvPr id="17447" name="Right Arrow 17446"/>
          <p:cNvSpPr/>
          <p:nvPr/>
        </p:nvSpPr>
        <p:spPr>
          <a:xfrm>
            <a:off x="3429000" y="4553712"/>
            <a:ext cx="246888" cy="23774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8" name="Rounded Rectangle 17447"/>
          <p:cNvSpPr/>
          <p:nvPr/>
        </p:nvSpPr>
        <p:spPr>
          <a:xfrm>
            <a:off x="3730752" y="4398264"/>
            <a:ext cx="3931920" cy="54864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9" name="Picture 17448" descr="FaCheckCircl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1" y="4553712"/>
            <a:ext cx="237744" cy="237744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4114800" y="4398264"/>
            <a:ext cx="35204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Start rule-based; learn from live arrivals; use open Agmarknet data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457200" y="5001768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2" name="Picture 17451" descr="FaExclamationTriangl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57216"/>
            <a:ext cx="237744" cy="237744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841248" y="5001768"/>
            <a:ext cx="25146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Centre &amp; staff adoption</a:t>
            </a:r>
          </a:p>
        </p:txBody>
      </p:sp>
      <p:sp>
        <p:nvSpPr>
          <p:cNvPr id="17454" name="Right Arrow 17453"/>
          <p:cNvSpPr/>
          <p:nvPr/>
        </p:nvSpPr>
        <p:spPr>
          <a:xfrm>
            <a:off x="3429000" y="5157216"/>
            <a:ext cx="246888" cy="23774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5" name="Rounded Rectangle 17454"/>
          <p:cNvSpPr/>
          <p:nvPr/>
        </p:nvSpPr>
        <p:spPr>
          <a:xfrm>
            <a:off x="3730752" y="5001768"/>
            <a:ext cx="3931920" cy="54864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6" name="Picture 17455" descr="FaCheckCircl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1" y="5157216"/>
            <a:ext cx="237744" cy="237744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4114800" y="5001768"/>
            <a:ext cx="35204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Simple centre dashboard; pilot with one centre / FPO first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457200" y="5605272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9" name="Picture 17458" descr="FaExclamationTriangl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760720"/>
            <a:ext cx="237744" cy="237744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841248" y="5605272"/>
            <a:ext cx="25146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Late arrivals &amp; harvest variability</a:t>
            </a:r>
          </a:p>
        </p:txBody>
      </p:sp>
      <p:sp>
        <p:nvSpPr>
          <p:cNvPr id="17461" name="Right Arrow 17460"/>
          <p:cNvSpPr/>
          <p:nvPr/>
        </p:nvSpPr>
        <p:spPr>
          <a:xfrm>
            <a:off x="3429000" y="5760720"/>
            <a:ext cx="246888" cy="23774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2" name="Rounded Rectangle 17461"/>
          <p:cNvSpPr/>
          <p:nvPr/>
        </p:nvSpPr>
        <p:spPr>
          <a:xfrm>
            <a:off x="3730752" y="5605272"/>
            <a:ext cx="3931920" cy="54864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63" name="Picture 17462" descr="FaCheckCircl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1" y="5760720"/>
            <a:ext cx="237744" cy="237744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4114800" y="5605272"/>
            <a:ext cx="35204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Buffer slots, dynamic re-allocation &amp; reminders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8001000" y="3584448"/>
            <a:ext cx="914400" cy="64008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Arial"/>
              </a:rPr>
              <a:t>Farmers</a:t>
            </a:r>
          </a:p>
        </p:txBody>
      </p:sp>
      <p:sp>
        <p:nvSpPr>
          <p:cNvPr id="17466" name="Right Arrow 17465"/>
          <p:cNvSpPr/>
          <p:nvPr/>
        </p:nvSpPr>
        <p:spPr>
          <a:xfrm>
            <a:off x="8961120" y="3776472"/>
            <a:ext cx="182880" cy="23774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7" name="Rounded Rectangle 17466"/>
          <p:cNvSpPr/>
          <p:nvPr/>
        </p:nvSpPr>
        <p:spPr>
          <a:xfrm>
            <a:off x="9189720" y="3584448"/>
            <a:ext cx="960120" cy="6400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FarmIQ</a:t>
            </a:r>
          </a:p>
        </p:txBody>
      </p:sp>
      <p:sp>
        <p:nvSpPr>
          <p:cNvPr id="17468" name="Right Arrow 17467"/>
          <p:cNvSpPr/>
          <p:nvPr/>
        </p:nvSpPr>
        <p:spPr>
          <a:xfrm>
            <a:off x="10195560" y="3776472"/>
            <a:ext cx="182880" cy="23774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9" name="Rounded Rectangle 17468"/>
          <p:cNvSpPr/>
          <p:nvPr/>
        </p:nvSpPr>
        <p:spPr>
          <a:xfrm>
            <a:off x="10424160" y="3584448"/>
            <a:ext cx="1280160" cy="64008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Arial"/>
              </a:rPr>
              <a:t>Centres, FPOs &amp; Buyers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001000" y="4315968"/>
            <a:ext cx="3730752" cy="228600"/>
          </a:xfrm>
          <a:prstGeom prst="rect">
            <a:avLst/>
          </a:prstGeom>
          <a:noFill/>
        </p:spPr>
        <p:txBody>
          <a:bodyPr wrap="square" lIns="18288" tIns="0" rIns="0" bIns="0" anchor="t">
            <a:noAutofit/>
          </a:bodyPr>
          <a:lstStyle/>
          <a:p>
            <a:pPr algn="l"/>
            <a:r>
              <a:rPr sz="900" b="1" i="0">
                <a:solidFill>
                  <a:srgbClr val="595959"/>
                </a:solidFill>
                <a:latin typeface="Arial"/>
              </a:rPr>
              <a:t>REVENUE STREAMS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8001000" y="457200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/>
            <a:r>
              <a:rPr sz="1050" b="1" i="0">
                <a:solidFill>
                  <a:srgbClr val="1F497D"/>
                </a:solidFill>
                <a:latin typeface="Arial"/>
              </a:rPr>
              <a:t>Institutional subscription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9921240" y="457200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/>
            <a:r>
              <a:rPr sz="1050" b="1" i="0">
                <a:solidFill>
                  <a:srgbClr val="1F497D"/>
                </a:solidFill>
                <a:latin typeface="Arial"/>
              </a:rPr>
              <a:t>Centre SaaS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8001000" y="5102352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/>
            <a:r>
              <a:rPr sz="1050" b="1" i="0">
                <a:solidFill>
                  <a:srgbClr val="1F497D"/>
                </a:solidFill>
                <a:latin typeface="Arial"/>
              </a:rPr>
              <a:t>Logistics coordination fee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9921240" y="5102352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/>
            <a:r>
              <a:rPr sz="1050" b="1" i="0">
                <a:solidFill>
                  <a:srgbClr val="1F497D"/>
                </a:solidFill>
                <a:latin typeface="Arial"/>
              </a:rPr>
              <a:t>Buyer platform services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8001000" y="5669280"/>
            <a:ext cx="3730752" cy="54864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/>
            <a:r>
              <a:rPr sz="1050" b="1" i="0">
                <a:solidFill>
                  <a:srgbClr val="1F497D"/>
                </a:solidFill>
                <a:latin typeface="Arial"/>
              </a:rPr>
              <a:t>Basic scheduling &amp; alerts stay free for farmers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FarmIQ Logo" descr="FarmIQ logo - Smarter Farming. Better Tomorrow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54864"/>
            <a:ext cx="1554480" cy="1024128"/>
          </a:xfrm>
          <a:prstGeom prst="rect">
            <a:avLst/>
          </a:prstGeom>
        </p:spPr>
      </p:pic>
      <p:sp>
        <p:nvSpPr>
          <p:cNvPr id="17411" name="Diamond 17410"/>
          <p:cNvSpPr/>
          <p:nvPr/>
        </p:nvSpPr>
        <p:spPr>
          <a:xfrm>
            <a:off x="457200" y="1261872"/>
            <a:ext cx="128016" cy="128016"/>
          </a:xfrm>
          <a:prstGeom prst="diamond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170432"/>
            <a:ext cx="6309359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Arial"/>
              </a:rPr>
              <a:t>Impact on the target audience</a:t>
            </a:r>
          </a:p>
        </p:txBody>
      </p:sp>
      <p:sp>
        <p:nvSpPr>
          <p:cNvPr id="17413" name="Diamond 17412"/>
          <p:cNvSpPr/>
          <p:nvPr/>
        </p:nvSpPr>
        <p:spPr>
          <a:xfrm>
            <a:off x="7178040" y="1261872"/>
            <a:ext cx="128016" cy="128016"/>
          </a:xfrm>
          <a:prstGeom prst="diamond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360919" y="1170432"/>
            <a:ext cx="438912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Arial"/>
              </a:rPr>
              <a:t>Benefits of the solution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1554480"/>
            <a:ext cx="2075688" cy="91440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502920" y="1591056"/>
            <a:ext cx="1984248" cy="365760"/>
          </a:xfrm>
          <a:prstGeom prst="rect">
            <a:avLst/>
          </a:prstGeom>
          <a:noFill/>
        </p:spPr>
        <p:txBody>
          <a:bodyPr wrap="square" lIns="73152" tIns="0" rIns="0" bIns="0" anchor="ctr">
            <a:noAutofit/>
          </a:bodyPr>
          <a:lstStyle/>
          <a:p>
            <a:pPr algn="l"/>
            <a:r>
              <a:rPr sz="2100" b="1" i="0">
                <a:solidFill>
                  <a:srgbClr val="1F497D"/>
                </a:solidFill>
                <a:latin typeface="Arial"/>
              </a:rPr>
              <a:t>86%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02920" y="1975104"/>
            <a:ext cx="1984248" cy="457200"/>
          </a:xfrm>
          <a:prstGeom prst="rect">
            <a:avLst/>
          </a:prstGeom>
          <a:noFill/>
        </p:spPr>
        <p:txBody>
          <a:bodyPr wrap="square" lIns="73152" tIns="0" rIns="27432" bIns="0" anchor="t">
            <a:no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of farm holdings are small or marginal (Census 2015-16)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665476" y="1554480"/>
            <a:ext cx="2075688" cy="91440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2711196" y="1591056"/>
            <a:ext cx="1984248" cy="365760"/>
          </a:xfrm>
          <a:prstGeom prst="rect">
            <a:avLst/>
          </a:prstGeom>
          <a:noFill/>
        </p:spPr>
        <p:txBody>
          <a:bodyPr wrap="square" lIns="73152" tIns="0" rIns="0" bIns="0" anchor="ctr">
            <a:noAutofit/>
          </a:bodyPr>
          <a:lstStyle/>
          <a:p>
            <a:pPr algn="l"/>
            <a:r>
              <a:rPr sz="2100" b="1" i="0">
                <a:solidFill>
                  <a:srgbClr val="1F497D"/>
                </a:solidFill>
                <a:latin typeface="Arial"/>
              </a:rPr>
              <a:t>₹92,651 Cr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711196" y="1975104"/>
            <a:ext cx="1984248" cy="457200"/>
          </a:xfrm>
          <a:prstGeom prst="rect">
            <a:avLst/>
          </a:prstGeom>
          <a:noFill/>
        </p:spPr>
        <p:txBody>
          <a:bodyPr wrap="square" lIns="73152" tIns="0" rIns="27432" bIns="0" anchor="t">
            <a:no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est. yearly post-harvest loss (ICAR-CIPHET, 2014 prices)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873752" y="1554480"/>
            <a:ext cx="2075688" cy="914400"/>
          </a:xfrm>
          <a:prstGeom prst="roundRect">
            <a:avLst>
              <a:gd name="adj" fmla="val 12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919472" y="1591056"/>
            <a:ext cx="1984248" cy="365760"/>
          </a:xfrm>
          <a:prstGeom prst="rect">
            <a:avLst/>
          </a:prstGeom>
          <a:noFill/>
        </p:spPr>
        <p:txBody>
          <a:bodyPr wrap="square" lIns="73152" tIns="0" rIns="0" bIns="0" anchor="ctr">
            <a:noAutofit/>
          </a:bodyPr>
          <a:lstStyle/>
          <a:p>
            <a:pPr algn="l"/>
            <a:r>
              <a:rPr sz="2100" b="1" i="0">
                <a:solidFill>
                  <a:srgbClr val="1F497D"/>
                </a:solidFill>
                <a:latin typeface="Arial"/>
              </a:rPr>
              <a:t>Up to 15%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919472" y="1975104"/>
            <a:ext cx="1984248" cy="457200"/>
          </a:xfrm>
          <a:prstGeom prst="rect">
            <a:avLst/>
          </a:prstGeom>
          <a:noFill/>
        </p:spPr>
        <p:txBody>
          <a:bodyPr wrap="square" lIns="73152" tIns="0" rIns="27432" bIns="0" anchor="t">
            <a:no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of fruits lost after harvest (NABCONS 2022)</a:t>
            </a:r>
          </a:p>
        </p:txBody>
      </p:sp>
      <p:graphicFrame>
        <p:nvGraphicFramePr>
          <p:cNvPr id="17424" name="Chart 17423" descr="Column chart of post-harvest loss percentage ranges by crop group, NABCONS 2022"/>
          <p:cNvGraphicFramePr>
            <a:graphicFrameLocks noGrp="1"/>
          </p:cNvGraphicFramePr>
          <p:nvPr/>
        </p:nvGraphicFramePr>
        <p:xfrm>
          <a:off x="457200" y="2606040"/>
          <a:ext cx="3931920" cy="24688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425" name="TextBox 17424"/>
          <p:cNvSpPr txBox="1"/>
          <p:nvPr/>
        </p:nvSpPr>
        <p:spPr>
          <a:xfrm>
            <a:off x="457200" y="5084064"/>
            <a:ext cx="3931920" cy="219456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Range of estimates · Source: PIB / NABCONS 2022</a:t>
            </a:r>
          </a:p>
        </p:txBody>
      </p:sp>
      <p:graphicFrame>
        <p:nvGraphicFramePr>
          <p:cNvPr id="17426" name="Chart 17425" descr="Doughnut chart of Indian farm holdings by size class, Agriculture Census 2015-16"/>
          <p:cNvGraphicFramePr>
            <a:graphicFrameLocks noGrp="1"/>
          </p:cNvGraphicFramePr>
          <p:nvPr/>
        </p:nvGraphicFramePr>
        <p:xfrm>
          <a:off x="4480560" y="2606040"/>
          <a:ext cx="2468880" cy="24688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427" name="TextBox 17426"/>
          <p:cNvSpPr txBox="1"/>
          <p:nvPr/>
        </p:nvSpPr>
        <p:spPr>
          <a:xfrm>
            <a:off x="4480560" y="5084064"/>
            <a:ext cx="2468880" cy="219456"/>
          </a:xfrm>
          <a:prstGeom prst="rect">
            <a:avLst/>
          </a:prstGeom>
          <a:noFill/>
        </p:spPr>
        <p:txBody>
          <a:bodyPr wrap="square" lIns="4572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Agriculture Census 2015-16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57200" y="5376672"/>
            <a:ext cx="2075688" cy="841248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9" name="Picture 17428" descr="FaTractor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431536"/>
            <a:ext cx="201168" cy="201168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841247" y="5394960"/>
            <a:ext cx="1673352" cy="237744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Farmer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12064" y="5623560"/>
            <a:ext cx="1984248" cy="585216"/>
          </a:xfrm>
          <a:prstGeom prst="rect">
            <a:avLst/>
          </a:prstGeom>
          <a:noFill/>
        </p:spPr>
        <p:txBody>
          <a:bodyPr wrap="square" lIns="45720" tIns="0" rIns="18288" bIns="0" anchor="t">
            <a:noAutofit/>
          </a:bodyPr>
          <a:lstStyle/>
          <a:p>
            <a:pPr algn="l" marL="146304" indent="-146304">
              <a:buFont typeface="Arial"/>
              <a:buChar char="•"/>
            </a:pPr>
            <a:r>
              <a:rPr sz="950" b="0" i="0">
                <a:solidFill>
                  <a:srgbClr val="262626"/>
                </a:solidFill>
                <a:latin typeface="Arial"/>
              </a:rPr>
              <a:t>Less waiting time</a:t>
            </a:r>
          </a:p>
          <a:p>
            <a:pPr algn="l" marL="146304" indent="-146304">
              <a:buFont typeface="Arial"/>
              <a:buChar char="•"/>
            </a:pPr>
            <a:r>
              <a:rPr sz="950" b="0" i="0">
                <a:solidFill>
                  <a:srgbClr val="262626"/>
                </a:solidFill>
                <a:latin typeface="Arial"/>
              </a:rPr>
              <a:t>Better schedule visibility</a:t>
            </a:r>
          </a:p>
          <a:p>
            <a:pPr algn="l" marL="146304" indent="-146304">
              <a:buFont typeface="Arial"/>
              <a:buChar char="•"/>
            </a:pPr>
            <a:r>
              <a:rPr sz="950" b="0" i="0">
                <a:solidFill>
                  <a:srgbClr val="262626"/>
                </a:solidFill>
                <a:latin typeface="Arial"/>
              </a:rPr>
              <a:t>Lower spoilage risk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2665476" y="5376672"/>
            <a:ext cx="2075688" cy="841248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3" name="Picture 17432" descr="FaWarehouse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6916" y="5431536"/>
            <a:ext cx="201168" cy="201168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3049524" y="5394960"/>
            <a:ext cx="1673352" cy="237744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Procurement centre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2720340" y="5623560"/>
            <a:ext cx="1984248" cy="585216"/>
          </a:xfrm>
          <a:prstGeom prst="rect">
            <a:avLst/>
          </a:prstGeom>
          <a:noFill/>
        </p:spPr>
        <p:txBody>
          <a:bodyPr wrap="square" lIns="45720" tIns="0" rIns="18288" bIns="0" anchor="t">
            <a:noAutofit/>
          </a:bodyPr>
          <a:lstStyle/>
          <a:p>
            <a:pPr algn="l" marL="146304" indent="-146304">
              <a:buFont typeface="Arial"/>
              <a:buChar char="•"/>
            </a:pPr>
            <a:r>
              <a:rPr sz="950" b="0" i="0">
                <a:solidFill>
                  <a:srgbClr val="262626"/>
                </a:solidFill>
                <a:latin typeface="Arial"/>
              </a:rPr>
              <a:t>Balanced daily arrivals</a:t>
            </a:r>
          </a:p>
          <a:p>
            <a:pPr algn="l" marL="146304" indent="-146304">
              <a:buFont typeface="Arial"/>
              <a:buChar char="•"/>
            </a:pPr>
            <a:r>
              <a:rPr sz="950" b="0" i="0">
                <a:solidFill>
                  <a:srgbClr val="262626"/>
                </a:solidFill>
                <a:latin typeface="Arial"/>
              </a:rPr>
              <a:t>Better crowd management</a:t>
            </a:r>
          </a:p>
          <a:p>
            <a:pPr algn="l" marL="146304" indent="-146304">
              <a:buFont typeface="Arial"/>
              <a:buChar char="•"/>
            </a:pPr>
            <a:r>
              <a:rPr sz="950" b="0" i="0">
                <a:solidFill>
                  <a:srgbClr val="262626"/>
                </a:solidFill>
                <a:latin typeface="Arial"/>
              </a:rPr>
              <a:t>Digital records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873752" y="5376672"/>
            <a:ext cx="2075688" cy="841248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7" name="Picture 17436" descr="FaGlobeAsia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5192" y="5431536"/>
            <a:ext cx="201168" cy="201168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5257800" y="5394960"/>
            <a:ext cx="1673352" cy="237744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Supply chain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928616" y="5623560"/>
            <a:ext cx="1984248" cy="585216"/>
          </a:xfrm>
          <a:prstGeom prst="rect">
            <a:avLst/>
          </a:prstGeom>
          <a:noFill/>
        </p:spPr>
        <p:txBody>
          <a:bodyPr wrap="square" lIns="45720" tIns="0" rIns="18288" bIns="0" anchor="t">
            <a:noAutofit/>
          </a:bodyPr>
          <a:lstStyle/>
          <a:p>
            <a:pPr algn="l" marL="146304" indent="-146304">
              <a:buFont typeface="Arial"/>
              <a:buChar char="•"/>
            </a:pPr>
            <a:r>
              <a:rPr sz="950" b="0" i="0">
                <a:solidFill>
                  <a:srgbClr val="262626"/>
                </a:solidFill>
                <a:latin typeface="Arial"/>
              </a:rPr>
              <a:t>Reduced congestion</a:t>
            </a:r>
          </a:p>
          <a:p>
            <a:pPr algn="l" marL="146304" indent="-146304">
              <a:buFont typeface="Arial"/>
              <a:buChar char="•"/>
            </a:pPr>
            <a:r>
              <a:rPr sz="950" b="0" i="0">
                <a:solidFill>
                  <a:srgbClr val="262626"/>
                </a:solidFill>
                <a:latin typeface="Arial"/>
              </a:rPr>
              <a:t>Lower post-harvest loss</a:t>
            </a:r>
          </a:p>
          <a:p>
            <a:pPr algn="l" marL="146304" indent="-146304">
              <a:buFont typeface="Arial"/>
              <a:buChar char="•"/>
            </a:pPr>
            <a:r>
              <a:rPr sz="950" b="0" i="0">
                <a:solidFill>
                  <a:srgbClr val="262626"/>
                </a:solidFill>
                <a:latin typeface="Arial"/>
              </a:rPr>
              <a:t>Better coordination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7178040" y="1554480"/>
            <a:ext cx="4553712" cy="1481328"/>
          </a:xfrm>
          <a:prstGeom prst="roundRect">
            <a:avLst>
              <a:gd name="adj" fmla="val 7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1" name="Oval 17440"/>
          <p:cNvSpPr/>
          <p:nvPr/>
        </p:nvSpPr>
        <p:spPr>
          <a:xfrm>
            <a:off x="7315200" y="1682495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2" name="Picture 17441" descr="FaUser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4927" y="1792224"/>
            <a:ext cx="237744" cy="237744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7909560" y="1682495"/>
            <a:ext cx="3749039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Arial"/>
              </a:rPr>
              <a:t>SOCIAL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7315200" y="2212848"/>
            <a:ext cx="4343400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62626"/>
                </a:solidFill>
                <a:latin typeface="Arial"/>
              </a:rPr>
              <a:t>Less waiting &amp; stress for small farmers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62626"/>
                </a:solidFill>
                <a:latin typeface="Arial"/>
              </a:rPr>
              <a:t>Fair, transparent access to slots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62626"/>
                </a:solidFill>
                <a:latin typeface="Arial"/>
              </a:rPr>
              <a:t>Inclusive voice &amp; regional-language access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7178040" y="3136391"/>
            <a:ext cx="4553712" cy="1481328"/>
          </a:xfrm>
          <a:prstGeom prst="roundRect">
            <a:avLst>
              <a:gd name="adj" fmla="val 7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6" name="Oval 17445"/>
          <p:cNvSpPr/>
          <p:nvPr/>
        </p:nvSpPr>
        <p:spPr>
          <a:xfrm>
            <a:off x="7315200" y="3264408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7" name="Picture 17446" descr="FaCoins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4927" y="3374136"/>
            <a:ext cx="237744" cy="237744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7909560" y="3264408"/>
            <a:ext cx="3749039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Arial"/>
              </a:rPr>
              <a:t>ECONOMIC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7315200" y="3794759"/>
            <a:ext cx="4343400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62626"/>
                </a:solidFill>
                <a:latin typeface="Arial"/>
              </a:rPr>
              <a:t>Lower spoilage, higher farmer income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62626"/>
                </a:solidFill>
                <a:latin typeface="Arial"/>
              </a:rPr>
              <a:t>Higher centre throughput &amp; capacity use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62626"/>
                </a:solidFill>
                <a:latin typeface="Arial"/>
              </a:rPr>
              <a:t>Shared transport cuts travel cost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7178040" y="4718304"/>
            <a:ext cx="4553712" cy="1481328"/>
          </a:xfrm>
          <a:prstGeom prst="roundRect">
            <a:avLst>
              <a:gd name="adj" fmla="val 7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1" name="Oval 17450"/>
          <p:cNvSpPr/>
          <p:nvPr/>
        </p:nvSpPr>
        <p:spPr>
          <a:xfrm>
            <a:off x="7315200" y="484632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2" name="Picture 17451" descr="FaLeaf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4927" y="4956048"/>
            <a:ext cx="237744" cy="237744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7909560" y="4846320"/>
            <a:ext cx="3749039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Arial"/>
              </a:rPr>
              <a:t>ENVIRONMENTAL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7315200" y="5376672"/>
            <a:ext cx="4343400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62626"/>
                </a:solidFill>
                <a:latin typeface="Arial"/>
              </a:rPr>
              <a:t>Less produce wasted after harvest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62626"/>
                </a:solidFill>
                <a:latin typeface="Arial"/>
              </a:rPr>
              <a:t>Fewer idle truck hours &amp; fuel use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62626"/>
                </a:solidFill>
                <a:latin typeface="Arial"/>
              </a:rPr>
              <a:t>Pooled trips mean lower emissions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FarmIQ Logo" descr="FarmIQ logo - Smarter Farming. Better Tomorrow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54864"/>
            <a:ext cx="1554480" cy="1024128"/>
          </a:xfrm>
          <a:prstGeom prst="rect">
            <a:avLst/>
          </a:prstGeom>
        </p:spPr>
      </p:pic>
      <p:sp>
        <p:nvSpPr>
          <p:cNvPr id="17411" name="Diamond 17410"/>
          <p:cNvSpPr/>
          <p:nvPr/>
        </p:nvSpPr>
        <p:spPr>
          <a:xfrm>
            <a:off x="457200" y="1261872"/>
            <a:ext cx="128016" cy="128016"/>
          </a:xfrm>
          <a:prstGeom prst="diamond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170432"/>
            <a:ext cx="6766559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1572768"/>
            <a:ext cx="6949440" cy="694944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4" name="Oval 17413"/>
          <p:cNvSpPr/>
          <p:nvPr/>
        </p:nvSpPr>
        <p:spPr>
          <a:xfrm>
            <a:off x="566928" y="1764792"/>
            <a:ext cx="310896" cy="31089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005840" y="1600200"/>
            <a:ext cx="6355080" cy="658368"/>
          </a:xfrm>
          <a:prstGeom prst="rect">
            <a:avLst/>
          </a:prstGeom>
          <a:noFill/>
        </p:spPr>
        <p:txBody>
          <a:bodyPr wrap="square" lIns="27432" tIns="18288" rIns="27432" bIns="0" anchor="t">
            <a:noAutofit/>
          </a:bodyPr>
          <a:lstStyle/>
          <a:p>
            <a:pPr algn="l"/>
            <a:r>
              <a:rPr sz="1150" b="1" i="0">
                <a:solidFill>
                  <a:srgbClr val="1F497D"/>
                </a:solidFill>
                <a:latin typeface="Arial"/>
              </a:rPr>
              <a:t>Post Harvest Food Loss – Ministry of Food Processing Industries</a:t>
            </a:r>
          </a:p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ICAR-CIPHET (2015) vs NABCONS (2022) loss estimates · PIB, 20 Dec 2022</a:t>
            </a:r>
          </a:p>
          <a:p>
            <a:pPr algn="l"/>
            <a:r>
              <a:rPr sz="1000" b="0" i="0" u="sng">
                <a:solidFill>
                  <a:srgbClr val="0070C0"/>
                </a:solidFill>
                <a:latin typeface="Arial"/>
                <a:hlinkClick r:id="rId5"/>
              </a:rPr>
              <a:t>pib.gov.in/PressReleaseIframePage.aspx?PRID=1885038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2348179"/>
            <a:ext cx="6949440" cy="694944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7" name="Oval 17416"/>
          <p:cNvSpPr/>
          <p:nvPr/>
        </p:nvSpPr>
        <p:spPr>
          <a:xfrm>
            <a:off x="566928" y="2540203"/>
            <a:ext cx="310896" cy="31089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005840" y="2375611"/>
            <a:ext cx="6355080" cy="658368"/>
          </a:xfrm>
          <a:prstGeom prst="rect">
            <a:avLst/>
          </a:prstGeom>
          <a:noFill/>
        </p:spPr>
        <p:txBody>
          <a:bodyPr wrap="square" lIns="27432" tIns="18288" rIns="27432" bIns="0" anchor="t">
            <a:noAutofit/>
          </a:bodyPr>
          <a:lstStyle/>
          <a:p>
            <a:pPr algn="l"/>
            <a:r>
              <a:rPr sz="1150" b="1" i="0">
                <a:solidFill>
                  <a:srgbClr val="1F497D"/>
                </a:solidFill>
                <a:latin typeface="Arial"/>
              </a:rPr>
              <a:t>Harvest &amp; Post-Harvest Losses of Major Crops in India</a:t>
            </a:r>
          </a:p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Jha et al., ICAR-CIPHET, Ludhiana (2015) · national loss assessment</a:t>
            </a:r>
          </a:p>
          <a:p>
            <a:pPr algn="l"/>
            <a:r>
              <a:rPr sz="1000" b="0" i="0" u="sng">
                <a:solidFill>
                  <a:srgbClr val="0070C0"/>
                </a:solidFill>
                <a:latin typeface="Arial"/>
                <a:hlinkClick r:id="rId6"/>
              </a:rPr>
              <a:t>researchgate.net/publication/289637983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57200" y="3123590"/>
            <a:ext cx="6949440" cy="694944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0" name="Oval 17419"/>
          <p:cNvSpPr/>
          <p:nvPr/>
        </p:nvSpPr>
        <p:spPr>
          <a:xfrm>
            <a:off x="566928" y="3315614"/>
            <a:ext cx="310896" cy="31089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005840" y="3151022"/>
            <a:ext cx="6355080" cy="658368"/>
          </a:xfrm>
          <a:prstGeom prst="rect">
            <a:avLst/>
          </a:prstGeom>
          <a:noFill/>
        </p:spPr>
        <p:txBody>
          <a:bodyPr wrap="square" lIns="27432" tIns="18288" rIns="27432" bIns="0" anchor="t">
            <a:noAutofit/>
          </a:bodyPr>
          <a:lstStyle/>
          <a:p>
            <a:pPr algn="l"/>
            <a:r>
              <a:rPr sz="1150" b="1" i="0">
                <a:solidFill>
                  <a:srgbClr val="1F497D"/>
                </a:solidFill>
                <a:latin typeface="Arial"/>
              </a:rPr>
              <a:t>Agriculture Census 2015-16 (Phase-I) – All India Report</a:t>
            </a:r>
          </a:p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Dept. of Agriculture &amp; Farmers Welfare · holdings by size class</a:t>
            </a:r>
          </a:p>
          <a:p>
            <a:pPr algn="l"/>
            <a:r>
              <a:rPr sz="1000" b="0" i="0" u="sng">
                <a:solidFill>
                  <a:srgbClr val="0070C0"/>
                </a:solidFill>
                <a:latin typeface="Arial"/>
                <a:hlinkClick r:id="rId7"/>
              </a:rPr>
              <a:t>fao.org – IND_REP_ENG_2015_2016.pdf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57200" y="3899001"/>
            <a:ext cx="6949440" cy="694944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3" name="Oval 17422"/>
          <p:cNvSpPr/>
          <p:nvPr/>
        </p:nvSpPr>
        <p:spPr>
          <a:xfrm>
            <a:off x="566928" y="4091025"/>
            <a:ext cx="310896" cy="31089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005840" y="3926433"/>
            <a:ext cx="6355080" cy="658368"/>
          </a:xfrm>
          <a:prstGeom prst="rect">
            <a:avLst/>
          </a:prstGeom>
          <a:noFill/>
        </p:spPr>
        <p:txBody>
          <a:bodyPr wrap="square" lIns="27432" tIns="18288" rIns="27432" bIns="0" anchor="t">
            <a:noAutofit/>
          </a:bodyPr>
          <a:lstStyle/>
          <a:p>
            <a:pPr algn="l"/>
            <a:r>
              <a:rPr sz="1150" b="1" i="0">
                <a:solidFill>
                  <a:srgbClr val="1F497D"/>
                </a:solidFill>
                <a:latin typeface="Arial"/>
              </a:rPr>
              <a:t>National Agriculture Market (e-NAM) – Press Note</a:t>
            </a:r>
          </a:p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PIB, Apr 2026 · mandis, farmers and FPOs registered</a:t>
            </a:r>
          </a:p>
          <a:p>
            <a:pPr algn="l"/>
            <a:r>
              <a:rPr sz="1000" b="0" i="0" u="sng">
                <a:solidFill>
                  <a:srgbClr val="0070C0"/>
                </a:solidFill>
                <a:latin typeface="Arial"/>
                <a:hlinkClick r:id="rId8"/>
              </a:rPr>
              <a:t>pib.gov.in/PressNoteDetails.aspx?id=158169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57200" y="4674412"/>
            <a:ext cx="6949440" cy="694944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6" name="Oval 17425"/>
          <p:cNvSpPr/>
          <p:nvPr/>
        </p:nvSpPr>
        <p:spPr>
          <a:xfrm>
            <a:off x="566928" y="4866436"/>
            <a:ext cx="310896" cy="31089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005840" y="4701844"/>
            <a:ext cx="6355080" cy="658368"/>
          </a:xfrm>
          <a:prstGeom prst="rect">
            <a:avLst/>
          </a:prstGeom>
          <a:noFill/>
        </p:spPr>
        <p:txBody>
          <a:bodyPr wrap="square" lIns="27432" tIns="18288" rIns="27432" bIns="0" anchor="t">
            <a:noAutofit/>
          </a:bodyPr>
          <a:lstStyle/>
          <a:p>
            <a:pPr algn="l"/>
            <a:r>
              <a:rPr sz="1150" b="1" i="0">
                <a:solidFill>
                  <a:srgbClr val="1F497D"/>
                </a:solidFill>
                <a:latin typeface="Arial"/>
              </a:rPr>
              <a:t>Agmarknet – Agricultural Marketing Information Network</a:t>
            </a:r>
          </a:p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Daily mandi arrivals &amp; prices · data source for demand modelling</a:t>
            </a:r>
          </a:p>
          <a:p>
            <a:pPr algn="l"/>
            <a:r>
              <a:rPr sz="1000" b="0" i="0" u="sng">
                <a:solidFill>
                  <a:srgbClr val="0070C0"/>
                </a:solidFill>
                <a:latin typeface="Arial"/>
                <a:hlinkClick r:id="rId9"/>
              </a:rPr>
              <a:t>agmarknet.gov.in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57200" y="5449824"/>
            <a:ext cx="6949440" cy="694944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9" name="Oval 17428"/>
          <p:cNvSpPr/>
          <p:nvPr/>
        </p:nvSpPr>
        <p:spPr>
          <a:xfrm>
            <a:off x="566928" y="5641848"/>
            <a:ext cx="310896" cy="31089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005840" y="5477256"/>
            <a:ext cx="6355080" cy="658368"/>
          </a:xfrm>
          <a:prstGeom prst="rect">
            <a:avLst/>
          </a:prstGeom>
          <a:noFill/>
        </p:spPr>
        <p:txBody>
          <a:bodyPr wrap="square" lIns="27432" tIns="18288" rIns="27432" bIns="0" anchor="t">
            <a:noAutofit/>
          </a:bodyPr>
          <a:lstStyle/>
          <a:p>
            <a:pPr algn="l"/>
            <a:r>
              <a:rPr sz="1150" b="1" i="0">
                <a:solidFill>
                  <a:srgbClr val="1F497D"/>
                </a:solidFill>
                <a:latin typeface="Arial"/>
              </a:rPr>
              <a:t>FastAPI &amp; scikit-learn documentation</a:t>
            </a:r>
          </a:p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Backend and ML toolkit planned for the prototype</a:t>
            </a:r>
          </a:p>
          <a:p>
            <a:pPr algn="l"/>
            <a:r>
              <a:rPr sz="1000" b="0" i="0" u="sng">
                <a:solidFill>
                  <a:srgbClr val="0070C0"/>
                </a:solidFill>
                <a:latin typeface="Arial"/>
                <a:hlinkClick r:id="rId10"/>
              </a:rPr>
              <a:t>fastapi.tiangolo.com</a:t>
            </a:r>
            <a:r>
              <a:rPr sz="1000" b="0" i="0">
                <a:solidFill>
                  <a:srgbClr val="595959"/>
                </a:solidFill>
                <a:latin typeface="Arial"/>
              </a:rPr>
              <a:t>   ·   </a:t>
            </a:r>
            <a:r>
              <a:rPr sz="1000" b="0" i="0" u="sng">
                <a:solidFill>
                  <a:srgbClr val="0070C0"/>
                </a:solidFill>
                <a:latin typeface="Arial"/>
                <a:hlinkClick r:id="rId11"/>
              </a:rPr>
              <a:t>scikit-learn.org</a:t>
            </a:r>
          </a:p>
        </p:txBody>
      </p:sp>
      <p:sp>
        <p:nvSpPr>
          <p:cNvPr id="17431" name="Diamond 17430"/>
          <p:cNvSpPr/>
          <p:nvPr/>
        </p:nvSpPr>
        <p:spPr>
          <a:xfrm>
            <a:off x="7726679" y="1261872"/>
            <a:ext cx="128016" cy="128016"/>
          </a:xfrm>
          <a:prstGeom prst="diamond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909559" y="1170432"/>
            <a:ext cx="384048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Arial"/>
              </a:rPr>
              <a:t>How research shaped FarmIQ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726679" y="1572768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1F497D"/>
                </a:solidFill>
                <a:latin typeface="Arial"/>
              </a:rPr>
              <a:t>FINDING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9281160" y="1572768"/>
            <a:ext cx="2011680" cy="256032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DESIGN CHOICE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7726679" y="1965960"/>
            <a:ext cx="4005072" cy="685800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7772400" y="1965960"/>
            <a:ext cx="1508760" cy="685800"/>
          </a:xfrm>
          <a:prstGeom prst="rect">
            <a:avLst/>
          </a:prstGeom>
          <a:noFill/>
        </p:spPr>
        <p:txBody>
          <a:bodyPr wrap="square" lIns="73152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F497D"/>
                </a:solidFill>
                <a:latin typeface="Arial"/>
              </a:rPr>
              <a:t>86%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281160" y="1965960"/>
            <a:ext cx="242316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of holdings are small &amp; marginal</a:t>
            </a:r>
          </a:p>
        </p:txBody>
      </p:sp>
      <p:sp>
        <p:nvSpPr>
          <p:cNvPr id="17438" name="Down Arrow 17437"/>
          <p:cNvSpPr/>
          <p:nvPr/>
        </p:nvSpPr>
        <p:spPr>
          <a:xfrm>
            <a:off x="9601200" y="2679191"/>
            <a:ext cx="292608" cy="18288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7726679" y="2862072"/>
            <a:ext cx="4005072" cy="4572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Low-cost access: SMS, WhatsApp &amp; voice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7726679" y="3383280"/>
            <a:ext cx="4005072" cy="685800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772400" y="3383280"/>
            <a:ext cx="1508760" cy="685800"/>
          </a:xfrm>
          <a:prstGeom prst="rect">
            <a:avLst/>
          </a:prstGeom>
          <a:noFill/>
        </p:spPr>
        <p:txBody>
          <a:bodyPr wrap="square" lIns="73152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F497D"/>
                </a:solidFill>
                <a:latin typeface="Arial"/>
              </a:rPr>
              <a:t>Up to 15%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9281160" y="3383280"/>
            <a:ext cx="242316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of fruits lost after harvest</a:t>
            </a:r>
          </a:p>
        </p:txBody>
      </p:sp>
      <p:sp>
        <p:nvSpPr>
          <p:cNvPr id="17443" name="Down Arrow 17442"/>
          <p:cNvSpPr/>
          <p:nvPr/>
        </p:nvSpPr>
        <p:spPr>
          <a:xfrm>
            <a:off x="9601200" y="4096512"/>
            <a:ext cx="292608" cy="18288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4" name="Rounded Rectangle 17443"/>
          <p:cNvSpPr/>
          <p:nvPr/>
        </p:nvSpPr>
        <p:spPr>
          <a:xfrm>
            <a:off x="7726679" y="4279392"/>
            <a:ext cx="4005072" cy="4572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Right-time slots to cut waiting &amp; spoilage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7726679" y="4800600"/>
            <a:ext cx="4005072" cy="685800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7772400" y="4800600"/>
            <a:ext cx="1508760" cy="685800"/>
          </a:xfrm>
          <a:prstGeom prst="rect">
            <a:avLst/>
          </a:prstGeom>
          <a:noFill/>
        </p:spPr>
        <p:txBody>
          <a:bodyPr wrap="square" lIns="73152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F497D"/>
                </a:solidFill>
                <a:latin typeface="Arial"/>
              </a:rPr>
              <a:t>1.80 Cr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9281160" y="4800600"/>
            <a:ext cx="242316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farmers already on e-NAM</a:t>
            </a:r>
          </a:p>
        </p:txBody>
      </p:sp>
      <p:sp>
        <p:nvSpPr>
          <p:cNvPr id="17448" name="Down Arrow 17447"/>
          <p:cNvSpPr/>
          <p:nvPr/>
        </p:nvSpPr>
        <p:spPr>
          <a:xfrm>
            <a:off x="9601200" y="5513832"/>
            <a:ext cx="292608" cy="18288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9" name="Rounded Rectangle 17448"/>
          <p:cNvSpPr/>
          <p:nvPr/>
        </p:nvSpPr>
        <p:spPr>
          <a:xfrm>
            <a:off x="7726679" y="5696712"/>
            <a:ext cx="4005072" cy="4572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Digital-ready base to integrate with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